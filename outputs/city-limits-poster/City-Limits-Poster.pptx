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9efa86fb94edb" /><Relationship Type="http://schemas.openxmlformats.org/officeDocument/2006/relationships/extended-properties" Target="/docProps/app.xml" Id="Rf7734ab4251942d9" /><Relationship Type="http://schemas.openxmlformats.org/officeDocument/2006/relationships/officeDocument" Target="/ppt/presentation.xml" Id="Rf52d093184274e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d8525660a496f"/>
  </p:sldMasterIdLst>
  <p:notesMasterIdLst>
    <p:notesMasterId xmlns:r="http://schemas.openxmlformats.org/officeDocument/2006/relationships" r:id="R318b52766ed34965"/>
  </p:notesMasterIdLst>
  <p:sldIdLst>
    <p:sldId xmlns:r="http://schemas.openxmlformats.org/officeDocument/2006/relationships" id="256" r:id="Rf5f84c7deea142bd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d8525660a496f" /><Relationship Type="http://schemas.openxmlformats.org/officeDocument/2006/relationships/theme" Target="/ppt/theme/theme1.xml" Id="R4581262287fc44c6" /><Relationship Type="http://schemas.openxmlformats.org/officeDocument/2006/relationships/notesMaster" Target="/ppt/notesMasters/notesMaster1.xml" Id="R318b52766ed34965" /><Relationship Type="http://schemas.openxmlformats.org/officeDocument/2006/relationships/presProps" Target="/ppt/presProps.xml" Id="R8504a85d72624970" /><Relationship Type="http://schemas.openxmlformats.org/officeDocument/2006/relationships/viewProps" Target="/ppt/viewProps.xml" Id="R91a4f6a025ed4ab9" /><Relationship Type="http://schemas.openxmlformats.org/officeDocument/2006/relationships/tableStyles" Target="/ppt/tableStyles.xml" Id="Rdc629222cc044690" /><Relationship Type="http://schemas.openxmlformats.org/officeDocument/2006/relationships/slide" Target="/ppt/slides/slide1.xml" Id="Rf5f84c7deea1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888dd5353546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d83b49dd5452d" /><Relationship Type="http://schemas.openxmlformats.org/officeDocument/2006/relationships/notesMaster" Target="/ppt/notesMasters/notesMaster1.xml" Id="R0208f9f5ee8f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City Limits poster.</a:t>
            </a:r>
          </a:p>
          <a:p xmlns:a="http://schemas.openxmlformats.org/drawingml/2006/main">
            <a:r>
              <a:t>Sources: README.md, src/main.py, src/intersection.py, src/traffic_data.py, and local screenshots rendered from the game code.</a:t>
            </a:r>
          </a:p>
          <a:p xmlns:a="http://schemas.openxmlformats.org/drawingml/2006/main">
            <a:r>
              <a:t>Planned QR destination after publish: https://brzozs.github.io/City-Limits/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80a288bff4d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FBBF45C-AC05-4016-9132-30805B1B1E7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EC20113-75F6-40B6-BBC0-24BC502A640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89CA02-91E7-456F-8995-B673556229B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EDB53-5452-4C1D-AECA-92DAE49213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9F2DA1-E88F-4F90-B273-CAFF0918A61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22682b3dda4644" /><Relationship Type="http://schemas.openxmlformats.org/officeDocument/2006/relationships/slideLayout" Target="/ppt/slideLayouts/slideLayout2.xml" Id="R1cc6fa6a18af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AA80B-D69D-4673-9F03-56C1916FA98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6fa6a18af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cb96196c94d45" /><Relationship Type="http://schemas.openxmlformats.org/officeDocument/2006/relationships/image" Target="/ppt/media/image.png" Id="R42b0ebb65ad74b2c" /><Relationship Type="http://schemas.openxmlformats.org/officeDocument/2006/relationships/image" Target="/ppt/media/image2.png" Id="R073449ccc8ce4f6c" /><Relationship Type="http://schemas.openxmlformats.org/officeDocument/2006/relationships/image" Target="/ppt/media/image3.png" Id="R14320b32c70c4274" /><Relationship Type="http://schemas.openxmlformats.org/officeDocument/2006/relationships/notesSlide" Target="/ppt/notesSlides/notesSlide1.xml" Id="R8cf2e83ccba2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9F2DA1-E88F-4F90-B273-CAFF0918A6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16977-47AD-46BB-B3B2-4E16E04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31737-BDC2-4C89-BBD5-E4ED3986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FC377-5B6B-49A1-B537-5A4E821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D63F9-2ED1-4D12-9886-C89DB49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FC36B-9E42-4DB1-AF36-BFEECC2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1B766-5AD1-401E-9B0B-335E0932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169F8-5A46-4C71-8A17-E65DD2B0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289D5-1243-49A6-BA9A-4727D502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A4870-26DD-494E-8B26-159BEF76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8FA9A-2693-43BB-9750-43463F5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EE9CA-AEA3-4985-9EEF-AA0208A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D2627-2FA6-4124-ADBE-6882641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E7837-50CB-4E1A-A8C0-2889B6B1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00423-C5EC-4FED-A8AE-FB54D59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27FA3-5C77-42F8-86AB-17515AC1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31D1F-76DE-429A-9614-622535E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2B6A8-A417-442E-985A-71CEE1F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34C6E-EA69-4BE9-AA69-9B709CB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D645-1677-4B0D-8946-A734CC61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3B21D-CA68-4A05-9962-EBD7B70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01A7F-C34A-407B-941F-33107CA5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F8410-65DF-4836-9E38-32A535D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0" y="0"/>
            <a:ext cx="19050" cy="3291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4CE19-FA04-4B02-9F09-1EC1982F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343AE-38DE-4F53-B22D-2D07D31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3B1DE-3C6B-43AA-833B-7CA5AFF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67D27-9153-4151-B029-0981FB5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54F23-9F04-4706-BDCA-5A57E79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CFAF0-3B03-401D-8EAA-AB37855C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1D4AAB-0FE6-4483-AB1D-61A2F261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DCA4E-17E9-4A80-BEDB-BFFD1A48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430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98A232-68B0-4FE2-A015-4258E2D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946C73-4CC3-49E9-8FDD-529AC1D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21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8A47D6-CFD4-412A-99A1-A012D48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DB6AC-F0A2-485D-AAA4-3D50A13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BD47BC-274F-4408-B938-755D74C9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08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21A4C4-F7D5-4404-965A-E681997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003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E5A8E0-8B01-40A7-8BC2-478EE98F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1B158C-2B04-4AB7-B2B4-64D1E689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194500"/>
            <a:ext cx="4389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F0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1726F9-1EDC-490A-A846-00C7EA40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048000" y="-2667000"/>
            <a:ext cx="15240000" cy="1143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BF6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A3EB6C-F429-4E81-9FF9-DFBB9291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0" y="-2286000"/>
            <a:ext cx="17145000" cy="1143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4CC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AD247B-71F3-4257-931B-7B25E922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0" y="21907500"/>
            <a:ext cx="15240000" cy="857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3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8976F3-BBFF-4B85-8D2E-ADDF2B5D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03900"/>
            <a:ext cx="43891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3F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053008-1340-4F5F-A35F-0D78E0AF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6287750" cy="1181100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52F3B6-C5B0-45A3-B521-E46806AB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1628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5B21D3-34D5-408E-865B-BF5ECC65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57350"/>
            <a:ext cx="952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84C6"/>
                </a:solidFill>
              </a:defRPr>
            </a:pPr>
            <a:r>
              <a:rPr sz="2550" b="1">
                <a:solidFill>
                  <a:srgbClr val="2B84C6"/>
                </a:solidFill>
              </a:rPr>
              <a:t>DATA-DRIVEN TRAFFIC SIM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F61721-A9E7-4929-8ED7-53825EC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9800"/>
            <a:ext cx="14097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874"/>
          </a:bodyPr>
          <a:lstStyle xmlns:a="http://schemas.openxmlformats.org/drawingml/2006/main"/>
          <a:p xmlns:a="http://schemas.openxmlformats.org/drawingml/2006/main">
            <a:pPr algn="l">
              <a:defRPr sz="12600" b="1">
                <a:solidFill>
                  <a:srgbClr val="102437"/>
                </a:solidFill>
              </a:defRPr>
            </a:pPr>
            <a:r>
              <a:rPr sz="12600" b="1">
                <a:solidFill>
                  <a:srgbClr val="102437"/>
                </a:solidFill>
              </a:rPr>
              <a:t>City Limits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E0CB61-6EB7-43C8-9933-7CE744C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0000"/>
            <a:ext cx="14287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4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02437"/>
                </a:solidFill>
              </a:defRPr>
            </a:pPr>
            <a:r>
              <a:rPr sz="5550" b="1">
                <a:solidFill>
                  <a:srgbClr val="102437"/>
                </a:solidFill>
              </a:rPr>
              <a:t>Build better intersections before rush hour wins.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8F38EA-4D18-43B9-96C3-D03A51E7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1466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4F6577"/>
                </a:solidFill>
              </a:defRPr>
            </a:pPr>
            <a:r>
              <a:rPr sz="2850" b="0">
                <a:solidFill>
                  <a:srgbClr val="4F6577"/>
                </a:solidFill>
              </a:rPr>
              <a:t>City Limits is a top-down traffic simulation game where players choose a city, place real-world intersection types on a constrained grid, and keep flow rates high as hourly traffic surges across the day.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968FA7-B00E-41B3-AA8A-41AF4D3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334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2B84C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A9CE5A-BEFC-4E37-A0F2-27767F3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458075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861BC4-29BF-45CC-A94D-55444DB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33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D998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342153-1447-47EB-B5C9-E1F894D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45807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Pygame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1B62DB-A813-4710-ACC8-759B4280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334250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43A36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108763-C574-43FF-8BAC-F3286EBF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458075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Real Traffic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F6E5DC-BF38-4BA9-A1E8-75E1E11D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962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28599"/>
                </a:solidFill>
              </a:defRPr>
            </a:pPr>
            <a:r>
              <a:rPr sz="1950" b="0">
                <a:solidFill>
                  <a:srgbClr val="728599"/>
                </a:solidFill>
              </a:rPr>
              <a:t>github.com/brzozs/City-Limits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8E3165-6B94-40B8-B548-0F999D2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57250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B84C6"/>
                </a:solidFill>
              </a:defRPr>
            </a:pPr>
            <a:r>
              <a:rPr sz="1950" b="0">
                <a:solidFill>
                  <a:srgbClr val="2B84C6"/>
                </a:solidFill>
              </a:rPr>
              <a:t>Educational traffic design + urban planning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7ED629-9EFC-4E70-82D1-EB49D39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9822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F88945-CF6B-46A3-ACEB-86909448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9822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806164-EA4F-4E51-9922-601CE2F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2108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437"/>
                </a:solidFill>
              </a:defRPr>
            </a:pPr>
            <a:r>
              <a:rPr sz="5250" b="1">
                <a:solidFill>
                  <a:srgbClr val="102437"/>
                </a:solidFill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E33BE2-DC5E-48EC-AE03-FAC6694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010900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F6577"/>
                </a:solidFill>
              </a:defRPr>
            </a:pPr>
            <a:r>
              <a:rPr sz="2100" b="0">
                <a:solidFill>
                  <a:srgbClr val="4F6577"/>
                </a:solidFill>
              </a:rPr>
              <a:t>city traffic profiles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118139-23D3-449D-BA4F-AA51C7A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822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9661BE-1703-4900-91B9-BF02677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822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8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24A94D-2155-4E0C-B64B-4FDA94F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2108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437"/>
                </a:solidFill>
              </a:defRPr>
            </a:pPr>
            <a:r>
              <a:rPr sz="5250" b="1">
                <a:solidFill>
                  <a:srgbClr val="102437"/>
                </a:solidFill>
              </a:rPr>
              <a:t>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2FBEFC-5F83-42BC-AFD3-471DA1C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1010900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F6577"/>
                </a:solidFill>
              </a:defRPr>
            </a:pPr>
            <a:r>
              <a:rPr sz="2100" b="0">
                <a:solidFill>
                  <a:srgbClr val="4F6577"/>
                </a:solidFill>
              </a:rPr>
              <a:t>intersection types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7657A0-D7E7-4539-BEAF-8B3A6CB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99822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F23DF4-B40C-45B7-8F69-3990DE1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99822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6B12B6-9591-48CD-9F3F-EA0E615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02108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437"/>
                </a:solidFill>
              </a:defRPr>
            </a:pPr>
            <a:r>
              <a:rPr sz="5250" b="1">
                <a:solidFill>
                  <a:srgbClr val="102437"/>
                </a:solidFill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D3A21B-0488-4BAA-A84C-660A4F31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1010900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F6577"/>
                </a:solidFill>
              </a:defRPr>
            </a:pPr>
            <a:r>
              <a:rPr sz="2100" b="0">
                <a:solidFill>
                  <a:srgbClr val="4F6577"/>
                </a:solidFill>
              </a:rPr>
              <a:t>progressive levels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F7D262-99BD-4474-8746-E4838B0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43000"/>
            <a:ext cx="24860250" cy="11811000"/>
          </a:xfrm>
          <a:prstGeom xmlns:a="http://schemas.openxmlformats.org/drawingml/2006/main" prst="roundRect">
            <a:avLst>
              <a:gd name="adj" fmla="val 6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BACFA6-FBF6-4976-994D-13779EF3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43000"/>
            <a:ext cx="2486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0F18462-1972-4223-BAC9-063A3B9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1390650"/>
            <a:ext cx="8191500" cy="1131570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CBE160-7412-4518-A1D5-4A16FF3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1714500"/>
            <a:ext cx="746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624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437"/>
                </a:solidFill>
              </a:defRPr>
            </a:pPr>
            <a:r>
              <a:rPr sz="3750" b="1">
                <a:solidFill>
                  <a:srgbClr val="102437"/>
                </a:solidFill>
              </a:rPr>
              <a:t>Live Gameplay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87AD85-B2A6-43D0-8161-CE537AC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2324100"/>
            <a:ext cx="7467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F6577"/>
                </a:solidFill>
              </a:defRPr>
            </a:pPr>
            <a:r>
              <a:rPr sz="1950" b="0">
                <a:solidFill>
                  <a:srgbClr val="4F6577"/>
                </a:solidFill>
              </a:rPr>
              <a:t>A single board shows the live clock, route endpoints, and the intersections players can place to keep traffic moving.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29E627-B0CD-4049-8C91-3C52058E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3733800"/>
            <a:ext cx="7467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9D68EB-42EF-4215-8D34-5AB2C709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3733800"/>
            <a:ext cx="95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A991FF-8C4A-4441-B735-84722511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3905250"/>
            <a:ext cx="693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7"/>
                </a:solidFill>
              </a:defRPr>
            </a:pPr>
            <a:r>
              <a:rPr sz="1950" b="1">
                <a:solidFill>
                  <a:srgbClr val="102437"/>
                </a:solidFill>
              </a:rPr>
              <a:t>Clock + rush hour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F73A58-EB56-4C10-96B2-C3309CB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4248150"/>
            <a:ext cx="6934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6577"/>
                </a:solidFill>
              </a:defRPr>
            </a:pPr>
            <a:r>
              <a:rPr sz="1500" b="0">
                <a:solidFill>
                  <a:srgbClr val="4F6577"/>
                </a:solidFill>
              </a:rPr>
              <a:t>Time-of-day pressure rises and falls through the day, so layouts must survive both calm and peak traffic.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007D80-20B2-48A9-BD84-8128EEF9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5448300"/>
            <a:ext cx="7467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32938E-4365-4546-9BCC-886DC1B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5448300"/>
            <a:ext cx="95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8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FE1D04-BD12-4AFA-B43A-6E6FAAF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5619750"/>
            <a:ext cx="693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7"/>
                </a:solidFill>
              </a:defRPr>
            </a:pPr>
            <a:r>
              <a:rPr sz="1950" b="1">
                <a:solidFill>
                  <a:srgbClr val="102437"/>
                </a:solidFill>
              </a:rPr>
              <a:t>Build on the grid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B801A4F-4F09-4FB6-A778-C1DBB562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5962650"/>
            <a:ext cx="6934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6577"/>
                </a:solidFill>
              </a:defRPr>
            </a:pPr>
            <a:r>
              <a:rPr sz="1500" b="0">
                <a:solidFill>
                  <a:srgbClr val="4F6577"/>
                </a:solidFill>
              </a:rPr>
              <a:t>Players drag intersection types onto open tiles and rotate pieces until a valid route connects every required path.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AF780F-E0C2-4368-B45C-A4EAB3D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7162800"/>
            <a:ext cx="74676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BD34066-381F-440D-AD3C-62968ED6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0" y="7162800"/>
            <a:ext cx="95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EA1700-6774-4DAF-BA04-477A189A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7334250"/>
            <a:ext cx="6934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7"/>
                </a:solidFill>
              </a:defRPr>
            </a:pPr>
            <a:r>
              <a:rPr sz="1950" b="1">
                <a:solidFill>
                  <a:srgbClr val="102437"/>
                </a:solidFill>
              </a:rPr>
              <a:t>Score the flow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3C1617-0821-49B9-8860-DB50FB62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7677150"/>
            <a:ext cx="6934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6577"/>
                </a:solidFill>
              </a:defRPr>
            </a:pPr>
            <a:r>
              <a:rPr sz="1500" b="0">
                <a:solidFill>
                  <a:srgbClr val="4F6577"/>
                </a:solidFill>
              </a:rPr>
              <a:t>Efficient paths keep cars moving, reduce idle time, and raise the flow-rate score shown elsewhere on the poster.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10DD6B-7726-465E-A8F0-64F87F9F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850" y="1390650"/>
            <a:ext cx="15868650" cy="11315700"/>
          </a:xfrm>
          <a:prstGeom xmlns:a="http://schemas.openxmlformats.org/drawingml/2006/main" prst="roundRect">
            <a:avLst>
              <a:gd name="adj" fmla="val 67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0ebb65ad74b2c"/>
          <a:srcRect xmlns:a="http://schemas.openxmlformats.org/drawingml/2006/main" l="0" t="2836" r="0" b="2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5250" y="1543050"/>
            <a:ext cx="15563850" cy="1101090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0ECECD-E7DC-4D72-884E-065B08B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411200"/>
            <a:ext cx="13335000" cy="93726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3B20EE-691A-4709-BDAC-EF8B358B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411200"/>
            <a:ext cx="1333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5E9FC1-DF7D-4A80-9574-D8B26FA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7350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Core Loop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A0D9B1-B8B9-4A15-BF5B-5C5C9D1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303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Pick a city, build a route network, then survive the traffic curve.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C6B6B8-1935-4AF2-BAF5-6D138C5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839950"/>
            <a:ext cx="1257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3B62BAF-8E4D-448F-95C3-E67F53A8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106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5F7D03-C401-44E6-876E-7314745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5220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8"/>
                </a:solidFill>
              </a:defRPr>
            </a:pPr>
            <a:r>
              <a:rPr sz="1650" b="1">
                <a:solidFill>
                  <a:srgbClr val="F6F1E8"/>
                </a:solidFill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958EC15-9B18-44A8-8EDA-9F9D278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10665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7"/>
                </a:solidFill>
              </a:defRPr>
            </a:pPr>
            <a:r>
              <a:rPr sz="2250" b="1">
                <a:solidFill>
                  <a:srgbClr val="102437"/>
                </a:solidFill>
              </a:rPr>
              <a:t>Pick a city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9C40F7E-7FF7-43D2-BC29-2AB3C3B7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754350"/>
            <a:ext cx="1203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New York City, Los Angeles, and Chicago each change the hourly volume curve and overall difficulty.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B5DD6B-EA3A-476E-9FA8-E85E0836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44950"/>
            <a:ext cx="1257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B34EF8-9B92-4205-836D-681A199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011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8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357320-6E31-413E-85A7-8BD4308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7125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8"/>
                </a:solidFill>
              </a:defRPr>
            </a:pPr>
            <a:r>
              <a:rPr sz="1650" b="1">
                <a:solidFill>
                  <a:srgbClr val="F6F1E8"/>
                </a:solidFill>
              </a:rPr>
              <a:t>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97E76D-A54B-4295-8C38-A63ADCD2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01165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7"/>
                </a:solidFill>
              </a:defRPr>
            </a:pPr>
            <a:r>
              <a:rPr sz="2250" b="1">
                <a:solidFill>
                  <a:srgbClr val="102437"/>
                </a:solidFill>
              </a:rPr>
              <a:t>Build the network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932F28-1748-42A6-B517-70F8FF1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59350"/>
            <a:ext cx="1203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Place and rotate intersections so start and end markers connect through a valid path across the grid.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9175915-7142-4167-8DB1-1284E05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49950"/>
            <a:ext cx="1257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04061A6-3ECF-40C9-8296-D5DD066E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916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E63DB97-C11B-4C1F-A9F1-B62BD8FB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030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8"/>
                </a:solidFill>
              </a:defRPr>
            </a:pPr>
            <a:r>
              <a:rPr sz="1650" b="1">
                <a:solidFill>
                  <a:srgbClr val="F6F1E8"/>
                </a:solidFill>
              </a:rPr>
              <a:t>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A45A3A-7992-470E-A148-5D66792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916650"/>
            <a:ext cx="11391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7"/>
                </a:solidFill>
              </a:defRPr>
            </a:pPr>
            <a:r>
              <a:rPr sz="2250" b="1">
                <a:solidFill>
                  <a:srgbClr val="102437"/>
                </a:solidFill>
              </a:rPr>
              <a:t>React to rush hour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9CFACC9-043C-4F53-A2A8-751101E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64350"/>
            <a:ext cx="1203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Morning and evening peaks shorten spawn intervals and punish layouts that create idle time or dead ends.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349C34-18B7-40C1-879C-3905AF0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688300"/>
            <a:ext cx="12573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673B2F1-F998-4B7E-94E2-BA041942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88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7"/>
                </a:solidFill>
              </a:defRPr>
            </a:pPr>
            <a:r>
              <a:rPr sz="2100" b="1">
                <a:solidFill>
                  <a:srgbClr val="102437"/>
                </a:solidFill>
              </a:rPr>
              <a:t>City choice changes the challenge.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7B8A32-A63B-4260-A94B-B3A8EC15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741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15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6577"/>
                </a:solidFill>
              </a:defRPr>
            </a:pPr>
            <a:r>
              <a:rPr sz="1350" b="0">
                <a:solidFill>
                  <a:srgbClr val="4F6577"/>
                </a:solidFill>
              </a:rPr>
              <a:t>Each city uses a different hourly traffic curve, so the same road design can feel balanced, punishing, or beginner-friendly depending on where you start.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7A20D33-0D6D-474D-805E-3E353FAF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8978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2B84C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AC1473-AD4C-46A0-A305-0EBF4B3B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021675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New York City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DA4603A-E3FD-42DC-AE51-1E82CA33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07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F6577"/>
                </a:solidFill>
              </a:defRPr>
            </a:pPr>
            <a:r>
              <a:rPr sz="1350" b="0">
                <a:solidFill>
                  <a:srgbClr val="4F6577"/>
                </a:solidFill>
              </a:rPr>
              <a:t>Balanced AM + PM peaks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A4F0C73-E306-4188-A2AA-2BF79E8A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8978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D8695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64E4DB3-73EE-4FE8-A988-945B15AE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21675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Los Angeles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2807853-3FF0-4FF5-BD5D-263CC6B6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07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F6577"/>
                </a:solidFill>
              </a:defRPr>
            </a:pPr>
            <a:r>
              <a:rPr sz="1350" b="0">
                <a:solidFill>
                  <a:srgbClr val="4F6577"/>
                </a:solidFill>
              </a:rPr>
              <a:t>Hardest rush-hour load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54F6FB-A32B-45D1-8885-270CFBFB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08978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43A36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1F0121-2966-4AC4-8B53-1B5D4FE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1021675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Chicago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D8B7FD-1B87-4A85-83B4-9D0C6F78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1507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F6577"/>
                </a:solidFill>
              </a:defRPr>
            </a:pPr>
            <a:r>
              <a:rPr sz="1350" b="0">
                <a:solidFill>
                  <a:srgbClr val="4F6577"/>
                </a:solidFill>
              </a:rPr>
              <a:t>Best first-play starting point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0E31C5B-4642-4FD0-AE53-C6EB20D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13411200"/>
            <a:ext cx="14287500" cy="93726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3B4706-652D-425C-A8B2-2A3CC92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13411200"/>
            <a:ext cx="14287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8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18AF0FC-3CDE-4020-A399-F8338170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37350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Traffic Profiles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65D97A-AD3A-4955-9B6B-90CCC204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4230350"/>
            <a:ext cx="1257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Hourly real-world volume data drives spawn timing, rush-hour spikes, and city difficulty.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2BAA2E-0FCB-4516-8C8E-251F3DB0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5030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599"/>
                </a:solidFill>
              </a:defRPr>
            </a:pPr>
            <a:r>
              <a:rPr sz="1200" b="0">
                <a:solidFill>
                  <a:srgbClr val="728599"/>
                </a:solidFill>
              </a:rPr>
              <a:t>00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3144373-BB33-48FF-925D-9FD7C431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15030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599"/>
                </a:solidFill>
              </a:defRPr>
            </a:pPr>
            <a:r>
              <a:rPr sz="1200" b="0">
                <a:solidFill>
                  <a:srgbClr val="728599"/>
                </a:solidFill>
              </a:rPr>
              <a:t>06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9DBC32-0D0B-4A7D-975F-54CC1D48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15030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599"/>
                </a:solidFill>
              </a:defRPr>
            </a:pPr>
            <a:r>
              <a:rPr sz="1200" b="0">
                <a:solidFill>
                  <a:srgbClr val="728599"/>
                </a:solidFill>
              </a:rPr>
              <a:t>12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E807F71-3D17-4D15-A2B8-3699747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5030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599"/>
                </a:solidFill>
              </a:defRPr>
            </a:pPr>
            <a:r>
              <a:rPr sz="1200" b="0">
                <a:solidFill>
                  <a:srgbClr val="728599"/>
                </a:solidFill>
              </a:rPr>
              <a:t>18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2A6408-EDA3-4187-A0E5-8063BA5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0" y="150304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8599"/>
                </a:solidFill>
              </a:defRPr>
            </a:pPr>
            <a:r>
              <a:rPr sz="1200" b="0">
                <a:solidFill>
                  <a:srgbClr val="728599"/>
                </a:solidFill>
              </a:rPr>
              <a:t>23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204C088-C8C6-4D08-AE27-2B4D6A8F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55067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4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7"/>
                </a:solidFill>
              </a:defRPr>
            </a:pPr>
            <a:r>
              <a:rPr sz="2100" b="1">
                <a:solidFill>
                  <a:srgbClr val="102437"/>
                </a:solidFill>
              </a:rPr>
              <a:t>New York City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1FC9ECC-87AE-4650-B71B-59797E96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58496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132"/>
          </a:solidFill>
          <a:ln xmlns:a="http://schemas.openxmlformats.org/drawingml/2006/main" w="19050">
            <a:solidFill>
              <a:srgbClr val="2B84C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C15077C-1B96-4807-87B0-1F32D931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59734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E941ECB-7305-4303-A8B7-EE59D163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15963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599"/>
                </a:solidFill>
              </a:defRPr>
            </a:pPr>
            <a:r>
              <a:rPr sz="1350" b="0">
                <a:solidFill>
                  <a:srgbClr val="728599"/>
                </a:solidFill>
              </a:rPr>
              <a:t>3012 vph peak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D6C63E3-DD0B-4C42-A2CF-27619321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CCCE3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25AF05D-FAD0-4529-9A25-835B5B8E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1CFE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20A844-3698-4BC2-9E5C-CA107AB7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5D1E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8988A07-B2F8-423D-8805-CC3917A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6D2E6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9B096E6-EC6A-40A8-A3B9-13B7D16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5D1E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14A8D8C-9B2F-4BD1-84BF-C3C534E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ECDE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7A7A530-51E7-45FB-A8A9-2C61FE0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DC4E0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FC6B1DD-D435-4736-9BCD-CCACCB86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0ABD6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B3D9D2B-3AA9-4B70-8898-FCDD9659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A9ED1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A92666A-66A1-4CAA-B00F-A418BC3B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2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9A7D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D2887B9-A9CD-4B3D-9E92-7E719947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7AFD7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EAC94AC-E972-43F4-9C0F-ACE7EEA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4ADD7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79A0C95-8A38-49F4-B8F9-719155F4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EA9D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EC97221-4316-473B-A1DF-7147D6A2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CA8D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B54F17-0085-4A8C-B7F2-02D9748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9A7D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613ADF7-30AD-4FC4-A195-F704ED0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A1D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004F5CF-F113-479E-A132-362E4372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C96C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8FE75D-BFF1-4529-ADDF-0403B26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45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E8EC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A199694-58F6-4F73-BE1E-44893D5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995C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007EE00-003E-4574-AE1E-6A4EAE0F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3A3D3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A0694EC-F3D2-416F-90AB-62B13D9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6AED7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E6D81A3-662A-4B30-8C42-E27E52B9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9B8DB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0FB06BD-5954-4383-A819-09F3AAE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8C1DF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BDC5133-AB14-40E7-AEDD-B6104E8D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159829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5C8E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96E7027-FC7D-4EA3-9A4C-FE2D899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0" y="15678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B84C6"/>
                </a:solidFill>
              </a:defRPr>
            </a:pPr>
            <a:r>
              <a:rPr sz="1800" b="1">
                <a:solidFill>
                  <a:srgbClr val="2B84C6"/>
                </a:solidFill>
              </a:rPr>
              <a:t>Peak 3012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C158E22-88E4-4108-810F-270A72A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75069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4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7"/>
                </a:solidFill>
              </a:defRPr>
            </a:pPr>
            <a:r>
              <a:rPr sz="2100" b="1">
                <a:solidFill>
                  <a:srgbClr val="102437"/>
                </a:solidFill>
              </a:rPr>
              <a:t>Los Angeles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63CB114-482D-4AC8-87D0-9A7C8276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784985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132"/>
          </a:solidFill>
          <a:ln xmlns:a="http://schemas.openxmlformats.org/drawingml/2006/main" w="19050">
            <a:solidFill>
              <a:srgbClr val="D8695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5ED6C3A-1092-4A4C-AA57-8E5BB59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79736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7D2E46A-1E3D-46A3-BD89-35B776B1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17964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599"/>
                </a:solidFill>
              </a:defRPr>
            </a:pPr>
            <a:r>
              <a:rPr sz="1350" b="0">
                <a:solidFill>
                  <a:srgbClr val="728599"/>
                </a:solidFill>
              </a:rPr>
              <a:t>3456 vph peak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07508AF-EDE4-448C-B411-6B8E200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6C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155F5C1-6CC5-4635-91DE-B1AFEE35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ACF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54B5D51-0825-4E89-BFA8-9CD8D54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CD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7B8297A-694A-49F0-89B5-F6A6EBA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DD3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4A6863D-FF72-4CA0-8422-7AA516E8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CD1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DD4A474-148A-41E6-B51E-0E5AFF4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1C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670394A-4C1D-4C2F-87EE-5F0BE543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ACA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222EF7C-137A-4D0A-8A00-9A4A9AC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8B86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50526D7-8AD4-4B0F-A7EA-BF8FEFF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817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1A7FC78-BDC4-4DD7-98A5-589B74A7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2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918E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BB0AEE9-69D0-47B7-AA62-F5EFE917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9996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310B12C-C04F-444D-9F71-2B05EDF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959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FEF25AD-B5D8-4D02-9179-C5D8C6F6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918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9DB78BB-6C44-4C47-BFBB-D4F6394A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8E8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7AEFA62-230F-4B19-858A-264AAE6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878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ABFF709-4034-4CD9-9A4E-26C0F647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7B73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70ACCEB-D5E3-4724-AAA3-8BF5BEDF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7067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15F3481-3F53-4F54-9468-8DBDB17F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45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695F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26F6FB4-8E92-4CD0-BE13-5761D2BD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736B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116FCC-2A63-46F5-8240-FFE334F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847E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EF23063-94FA-4247-B94B-8ECB9CD7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959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4409BEB-53F3-4614-BC56-9B1AF606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A6A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ED1F22A-9897-48EB-9FF6-70B156E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B4B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174053-83E6-44CE-A6A5-3A83512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1798320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C0C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C70D5BF-7E0B-4A2B-8EA3-DE3F50E8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0" y="17678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8695F"/>
                </a:solidFill>
              </a:defRPr>
            </a:pPr>
            <a:r>
              <a:rPr sz="1800" b="1">
                <a:solidFill>
                  <a:srgbClr val="D8695F"/>
                </a:solidFill>
              </a:rPr>
              <a:t>Peak 3456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5D98149-8B9B-4121-BF86-7231506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95072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4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7"/>
                </a:solidFill>
              </a:defRPr>
            </a:pPr>
            <a:r>
              <a:rPr sz="2100" b="1">
                <a:solidFill>
                  <a:srgbClr val="102437"/>
                </a:solidFill>
              </a:rPr>
              <a:t>Chicago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80DB599-3A7C-4A79-9281-6C91D44C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198501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132"/>
          </a:solidFill>
          <a:ln xmlns:a="http://schemas.openxmlformats.org/drawingml/2006/main" w="19050">
            <a:solidFill>
              <a:srgbClr val="43A36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B409A4F-6D5C-4527-BE5C-E0021C9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997392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13A8ADD-5235-432D-96C1-3734E976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199644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599"/>
                </a:solidFill>
              </a:defRPr>
            </a:pPr>
            <a:r>
              <a:rPr sz="1350" b="0">
                <a:solidFill>
                  <a:srgbClr val="728599"/>
                </a:solidFill>
              </a:rPr>
              <a:t>2867 vph peak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A689D02-EF4A-4448-8AE8-84AC9502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4D5CE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7002D78-61A0-4E8D-8BD9-474FDB9C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9D7D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AF8A3F8-B2C6-4484-873D-AED4C76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BD8D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0AEA88E-CA3A-4086-889C-54AA589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CD8D5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306E304-4B61-4B4F-8624-D551E0AA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BD8D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4D97F9B-0AD1-454A-BB09-31115E1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1D3CC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F859E29-E216-442E-B756-7B7898C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DCAB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9ED2882-CE83-4DC0-AE04-21729726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8BA99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1CB7839-11DF-4D1E-90F1-B8950F5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BB58E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E51C85C-5E0E-4485-B86F-15F9442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2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DBC9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3342F98-D77F-4020-A098-719C96EB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8C1A7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B339271-9779-4D3B-B275-938F23C5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42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5C0A4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13FFB07-B73D-4015-9035-DE048B3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0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0BEA0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8C7244C-4FB7-4619-A4BD-784A393F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DBC9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768BA94-A351-4DC9-9A56-0DE4485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ABB9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B52CB76-8069-4F2F-9329-9389DA3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FB791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936A26A-0D92-453C-90C4-2E26A329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AF83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5EE13B4-339F-42B8-AB86-07BDA3C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45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8AC7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9C51830-1143-4EDB-924F-6366C96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7B38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EB812F0-2636-4581-B41F-B6BA4F6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DBC9D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965C9FE-562D-47C6-A7B7-ACC411E2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3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CC3AA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CC90D83-4858-4F42-9E55-E8A4D320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9C9B6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E7C784B-1B34-42AC-9E35-E8D5B48A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6CFC2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7216FB6-EB50-43F9-B4DF-70953F0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19983450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1D3CB"/>
          </a:solidFill>
          <a:ln xmlns:a="http://schemas.openxmlformats.org/drawingml/2006/main" w="9525">
            <a:solidFill>
              <a:srgbClr val="27435D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87E1B8E-6CBF-43E5-998A-E3119FF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0" y="19678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43A36A"/>
                </a:solidFill>
              </a:defRPr>
            </a:pPr>
            <a:r>
              <a:rPr sz="1800" b="1">
                <a:solidFill>
                  <a:srgbClr val="43A36A"/>
                </a:solidFill>
              </a:rPr>
              <a:t>Peak 2867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E779163-F8C1-4F95-909E-E4B56DC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21126450"/>
            <a:ext cx="1352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0E35BC5-20C3-4C2C-B388-B873B7C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21431250"/>
            <a:ext cx="1303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82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Rush-hour design insight: Los Angeles creates the heaviest peak pressure, Chicago is the easiest lane to learn on, and New York stays balanced through both AM and PM surges.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B4CDAEF-E945-4DB9-B8EC-F8839AEA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0" y="13411200"/>
            <a:ext cx="13068300" cy="9372600"/>
          </a:xfrm>
          <a:prstGeom xmlns:a="http://schemas.openxmlformats.org/drawingml/2006/main" prst="roundRect">
            <a:avLst>
              <a:gd name="adj" fmla="val 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C9F3BA4-81E4-42D4-87D4-6CD08062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0" y="13411200"/>
            <a:ext cx="13068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670BA56-179B-4E83-B5A1-4E2419D4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0" y="13735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Intersection Toolkit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CF2DE03-BCFA-4A0C-AEB8-F15B9E0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0" y="14230350"/>
            <a:ext cx="1200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Players drag from a library that mixes everyday junctions with more advanced highway-style designs.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F05E39B-E487-4256-8F39-AA8EBFEE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0" y="14935200"/>
            <a:ext cx="123063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449ccc8ce4f6c"/>
          <a:stretch xmlns:a="http://schemas.openxmlformats.org/drawingml/2006/main"/>
        </p:blipFill>
        <p:spPr>
          <a:xfrm xmlns:a="http://schemas.openxmlformats.org/drawingml/2006/main">
            <a:off x="30234136" y="15106650"/>
            <a:ext cx="11959828" cy="5467350"/>
          </a:xfrm>
          <a:prstGeom xmlns:a="http://schemas.openxmlformats.org/drawingml/2006/main" prst="rect">
            <a:avLst/>
          </a:prstGeom>
        </p:spPr>
      </p:pic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F9D3E59-3841-4A01-80F8-25FE362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21869400"/>
            <a:ext cx="1223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T-Intersections, trumpets, Y-intersections, and partial cloverleafs expand the route design space at higher complexity.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6350433-D78A-4285-A528-C60F9B4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0"/>
            <a:ext cx="16192500" cy="85344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6E374499-71B9-48F2-97E4-68A6E7CE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0"/>
            <a:ext cx="1619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8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1CB6AEF-1136-47B2-975D-175661A2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64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Scoring Model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5A3B596-987C-48B6-BEF8-1F296D83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601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Flow rate rewards fast movement, efficient routing, and low idle time.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4F20821-E050-48FA-AD3E-96A5736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07850"/>
            <a:ext cx="1543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5A96152-501D-472B-B62B-3AD44D17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0"/>
            <a:ext cx="1466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7"/>
                </a:solidFill>
              </a:defRPr>
            </a:pPr>
            <a:r>
              <a:rPr sz="3150" b="1">
                <a:solidFill>
                  <a:srgbClr val="102437"/>
                </a:solidFill>
              </a:rPr>
              <a:t>Flow Rate = (Vavg / Vlimit) x (Tideal / Tactual) x (1 - Tidle / Tactual)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BE3EA3F-3B3F-41D2-A6CF-7BD2C00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70050"/>
            <a:ext cx="1466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F7CAD11-0EFF-4A93-835D-793AE09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700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CBC34E8-9520-45A7-815D-197316A0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3177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9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84C6"/>
                </a:solidFill>
              </a:defRPr>
            </a:pPr>
            <a:r>
              <a:rPr sz="1950" b="1">
                <a:solidFill>
                  <a:srgbClr val="2B84C6"/>
                </a:solidFill>
              </a:rPr>
              <a:t>Speed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3DAFE05-031B-4008-8051-EA91D6F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622500"/>
            <a:ext cx="1390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Average speed is compared against the speed limit so efficient layouts score higher.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698DB2E-5306-42A4-8D7B-9D78EE3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65450"/>
            <a:ext cx="1466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863655B-8DE9-41DB-8C87-378C961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65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9952FC3-2B51-49B4-9022-53C10C6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6131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9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3A36A"/>
                </a:solidFill>
              </a:defRPr>
            </a:pPr>
            <a:r>
              <a:rPr sz="1950" b="1">
                <a:solidFill>
                  <a:srgbClr val="43A36A"/>
                </a:solidFill>
              </a:rPr>
              <a:t>Travel Time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938A41B-5462-46B0-BF82-98A766BD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917900"/>
            <a:ext cx="1390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Ideal travel time is measured against actual travel time to reward shorter, cleaner routes.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566303A-CB0C-47BD-AAEB-2C33EA5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60850"/>
            <a:ext cx="1466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9050">
            <a:solidFill>
              <a:srgbClr val="C7D6E2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9D7A1D9-64BF-42A6-897B-FC3467B0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608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9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C02B3B8-8705-4DA2-A159-519AF371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9085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9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695F"/>
                </a:solidFill>
              </a:defRPr>
            </a:pPr>
            <a:r>
              <a:rPr sz="1950" b="1">
                <a:solidFill>
                  <a:srgbClr val="D8695F"/>
                </a:solidFill>
              </a:rPr>
              <a:t>Idle Time + Routing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CB07461-2DE4-40A8-94AE-E8C9B23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213300"/>
            <a:ext cx="1390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Stopped cars and failed paths drag the score down, so broken networks are visibly punished.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681FDEA-4753-46C7-8F92-CCF0707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3241000"/>
            <a:ext cx="13906500" cy="85344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60CF628-F055-46DC-8B4D-255F978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23241000"/>
            <a:ext cx="1390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4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A2FDC6D-877A-47D7-9B26-78BBEE6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23564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Levels Scale Up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599432E-9BE0-444B-8A2C-25409D8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24060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Each stage increases the grid size, travel points, and target flow rate.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95A4CAD-9FB4-4675-8B34-D7E2CA28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0" y="24860250"/>
            <a:ext cx="4286250" cy="5905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A6768756-E490-44AC-AADB-779D395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2510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7"/>
                </a:solidFill>
              </a:defRPr>
            </a:pPr>
            <a:r>
              <a:rPr sz="2400" b="1">
                <a:solidFill>
                  <a:srgbClr val="102437"/>
                </a:solidFill>
              </a:rPr>
              <a:t>Level 1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B041DFC-EE14-4F83-AFED-93EA4F5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255651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6577"/>
                </a:solidFill>
              </a:defRPr>
            </a:pPr>
            <a:r>
              <a:rPr sz="1650" b="0">
                <a:solidFill>
                  <a:srgbClr val="4F6577"/>
                </a:solidFill>
              </a:rPr>
              <a:t>2 travel points | target 0.45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56B2065-A72A-49B8-B54E-44C1889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52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A89B4EE3-0234-4D36-B8D6-D915DB3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34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D8319AE-B3A6-449A-BCFA-9DAB75D2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65EF610-5405-4401-A870-E699D1D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661A6CD-0D6B-41DE-B827-8272B6B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27622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1E8"/>
                </a:solidFill>
              </a:defRPr>
            </a:pPr>
            <a:r>
              <a:rPr sz="1050" b="1">
                <a:solidFill>
                  <a:srgbClr val="F6F1E8"/>
                </a:solidFill>
              </a:rPr>
              <a:t>IN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D1ABEFD-3338-449C-AE33-D46F48B8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1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B5149F4E-2BBE-4A15-86DF-98F7C6C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7425" y="27622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</a:defRPr>
            </a:pPr>
            <a:r>
              <a:rPr sz="900" b="1">
                <a:solidFill>
                  <a:srgbClr val="F6F1E8"/>
                </a:solidFill>
              </a:rPr>
              <a:t>OUT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AD4F6AC-8BC4-4860-8E11-B5A9AB3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29508450"/>
            <a:ext cx="3752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2B84C6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7B49C10-7252-45A9-9869-C8ED3E2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7550" y="29718000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7"/>
                </a:solidFill>
              </a:defRPr>
            </a:pPr>
            <a:r>
              <a:rPr sz="1650" b="0">
                <a:solidFill>
                  <a:srgbClr val="102437"/>
                </a:solidFill>
              </a:rPr>
              <a:t>2 travel points | target 0.45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DA563A1-9EC4-4AF5-937E-3F4383F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0" y="24860250"/>
            <a:ext cx="4286250" cy="5905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2A0A2FC-1277-457B-9DEA-F37B7F53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510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7"/>
                </a:solidFill>
              </a:defRPr>
            </a:pPr>
            <a:r>
              <a:rPr sz="2400" b="1">
                <a:solidFill>
                  <a:srgbClr val="102437"/>
                </a:solidFill>
              </a:rPr>
              <a:t>Level 2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AC4E332-37FA-48D7-A931-43FBA0E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55651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6577"/>
                </a:solidFill>
              </a:defRPr>
            </a:pPr>
            <a:r>
              <a:rPr sz="1650" b="0">
                <a:solidFill>
                  <a:srgbClr val="4F6577"/>
                </a:solidFill>
              </a:rPr>
              <a:t>3 travel points | target 0.55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FD2B43A-A828-4105-B034-D6D8D28A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268986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BC436EB-AB77-43BE-AB7C-D41DC2E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7325" y="268986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4687E40-B40B-4FDE-BCB4-2F83F33C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525" y="268986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2CF5914-6E49-43DF-BB7D-5C43F18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277368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20F008B-0000-4968-BCC2-54A3AC0C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7325" y="277368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CED8A5D-EE73-427C-A27F-D151E05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525" y="277368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7263D32-92F2-4D87-9387-72588FD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14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8778068-92E3-47AE-ABEB-8DE69F6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25" y="27622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1E8"/>
                </a:solidFill>
              </a:defRPr>
            </a:pPr>
            <a:r>
              <a:rPr sz="1050" b="1">
                <a:solidFill>
                  <a:srgbClr val="F6F1E8"/>
                </a:solidFill>
              </a:rPr>
              <a:t>IN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03170441-9764-4CAA-A7C7-2E1B104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60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641A3E3-C9EF-4460-8EB5-CEEE7D8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1325" y="27622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</a:defRPr>
            </a:pPr>
            <a:r>
              <a:rPr sz="900" b="1">
                <a:solidFill>
                  <a:srgbClr val="F6F1E8"/>
                </a:solidFill>
              </a:rPr>
              <a:t>OUT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41912C9-3BCE-4C26-BD56-5C8B5F1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9508450"/>
            <a:ext cx="3752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D9982B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FC8E1FE-8FF3-43E3-BCE9-2254E1C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0" y="29718000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7"/>
                </a:solidFill>
              </a:defRPr>
            </a:pPr>
            <a:r>
              <a:rPr sz="1650" b="0">
                <a:solidFill>
                  <a:srgbClr val="102437"/>
                </a:solidFill>
              </a:rPr>
              <a:t>3 travel points | target 0.55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C01912A-2D0A-42ED-A632-441BBD2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0" y="24860250"/>
            <a:ext cx="4286250" cy="59055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23813">
            <a:solidFill>
              <a:srgbClr val="C7D6E2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0DDE7AF-666D-4C30-990A-8D296CDE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0" y="25107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3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7"/>
                </a:solidFill>
              </a:defRPr>
            </a:pPr>
            <a:r>
              <a:rPr sz="2400" b="1">
                <a:solidFill>
                  <a:srgbClr val="102437"/>
                </a:solidFill>
              </a:rPr>
              <a:t>Level 3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484BD5C2-60B3-4A36-B810-0619A608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0" y="255651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6577"/>
                </a:solidFill>
              </a:defRPr>
            </a:pPr>
            <a:r>
              <a:rPr sz="1650" b="0">
                <a:solidFill>
                  <a:srgbClr val="4F6577"/>
                </a:solidFill>
              </a:rPr>
              <a:t>4 travel points | target 0.65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0758C1B8-F6D0-4980-8BD3-6F002E7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025" y="264795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2541815B-63D5-4A18-A7D7-BAE5AC5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25" y="264795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5CD5778-8F11-47AB-B820-5AD3649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25" y="264795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F9E0B6F-CF35-47A6-AABA-6DB19319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0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F418E6E-6669-4AE2-B4F3-9DC8A707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F207476-C4E8-4499-8B19-17184DA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25" y="273177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4F4FB521-D1C2-4C71-8095-AD335DDD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3025" y="281559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0221469-5601-49E0-892B-898E2ACE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25" y="281559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B0E5889-2BF3-4D51-BB01-3699110E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25" y="28155900"/>
            <a:ext cx="800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3"/>
          </a:solidFill>
          <a:ln xmlns:a="http://schemas.openxmlformats.org/drawingml/2006/main" w="19050">
            <a:solidFill>
              <a:srgbClr val="B7CBD9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F698DF5-E0B6-4023-940D-691DC1B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351AC3C-299A-4152-9F9E-A719F96B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25" y="276225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6F1E8"/>
                </a:solidFill>
              </a:defRPr>
            </a:pPr>
            <a:r>
              <a:rPr sz="1050" b="1">
                <a:solidFill>
                  <a:srgbClr val="F6F1E8"/>
                </a:solidFill>
              </a:rPr>
              <a:t>IN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30081F0-319C-4ED3-AAAA-861D16A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9975" y="27489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82FB1C00-12EE-4128-BA5C-0375F1D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225" y="276225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6F1E8"/>
                </a:solidFill>
              </a:defRPr>
            </a:pPr>
            <a:r>
              <a:rPr sz="900" b="1">
                <a:solidFill>
                  <a:srgbClr val="F6F1E8"/>
                </a:solidFill>
              </a:rPr>
              <a:t>OUT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EEFB49A1-51A3-4BB2-8697-3E64521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0" y="29508450"/>
            <a:ext cx="3752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19050">
            <a:solidFill>
              <a:srgbClr val="43A36A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9AEF5E6-C8C0-41AF-B582-EAAFEF7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5350" y="29718000"/>
            <a:ext cx="3409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7"/>
                </a:solidFill>
              </a:defRPr>
            </a:pPr>
            <a:r>
              <a:rPr sz="1650" b="0">
                <a:solidFill>
                  <a:srgbClr val="102437"/>
                </a:solidFill>
              </a:rPr>
              <a:t>4 travel points | target 0.65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A8B992A-6525-4953-AFF0-F7573B94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0" y="23241000"/>
            <a:ext cx="10591800" cy="85344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7D6E2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9CC3017-C9E4-4B6F-95D0-038DC51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0" y="23241000"/>
            <a:ext cx="10591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E15A76D2-9153-4CEA-8D19-FCD2132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0" y="23564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7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437"/>
                </a:solidFill>
              </a:defRPr>
            </a:pPr>
            <a:r>
              <a:rPr sz="3450" b="1">
                <a:solidFill>
                  <a:srgbClr val="102437"/>
                </a:solidFill>
              </a:rPr>
              <a:t>Try The Game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EF32561-E850-455B-AEAC-EED995D4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0" y="24060150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6577"/>
                </a:solidFill>
              </a:defRPr>
            </a:pPr>
            <a:r>
              <a:rPr sz="1800" b="0">
                <a:solidFill>
                  <a:srgbClr val="4F6577"/>
                </a:solidFill>
              </a:rPr>
              <a:t>Scan the live phone demo and play City Limits straight from your browser.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96D5B79-FA1C-4676-A448-1A866259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300" y="25069800"/>
            <a:ext cx="53340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02437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96D8456-CE12-4E83-A9F5-5EFE0AF7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5800" y="25260300"/>
            <a:ext cx="4953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20b32c70c4274"/>
          <a:stretch xmlns:a="http://schemas.openxmlformats.org/drawingml/2006/main"/>
        </p:blipFill>
        <p:spPr>
          <a:xfrm xmlns:a="http://schemas.openxmlformats.org/drawingml/2006/main">
            <a:off x="35013900" y="25298400"/>
            <a:ext cx="4876800" cy="4876800"/>
          </a:xfrm>
          <a:prstGeom xmlns:a="http://schemas.openxmlformats.org/drawingml/2006/main" prst="rect">
            <a:avLst/>
          </a:prstGeom>
        </p:spPr>
      </p:pic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E18B741-8C72-4316-B1E3-BD2EFFA9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0" y="30670500"/>
            <a:ext cx="792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35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437"/>
                </a:solidFill>
              </a:defRPr>
            </a:pPr>
            <a:r>
              <a:rPr sz="2550" b="1">
                <a:solidFill>
                  <a:srgbClr val="102437"/>
                </a:solidFill>
              </a:rPr>
              <a:t>Scan to play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717F79C-5EA9-493E-B084-E6911712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150" y="31108650"/>
            <a:ext cx="925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28599"/>
                </a:solidFill>
              </a:defRPr>
            </a:pPr>
            <a:r>
              <a:rPr sz="1650" b="0">
                <a:solidFill>
                  <a:srgbClr val="728599"/>
                </a:solidFill>
              </a:rPr>
              <a:t>Live now on GitHub Pages.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131D6A8-7B4D-4F5C-B717-7FC9E70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3150" y="31451550"/>
            <a:ext cx="925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B84C6"/>
                </a:solidFill>
              </a:defRPr>
            </a:pPr>
            <a:r>
              <a:rPr sz="1650" b="0">
                <a:solidFill>
                  <a:srgbClr val="2B84C6"/>
                </a:solidFill>
              </a:rPr>
              <a:t>https://brzozs.github.io/City-Limits/</a:t>
            </a:r>
          </a:p>
        </p:txBody>
      </p:sp>
    </p:spTree>
    <p:extLst>
      <p:ext uri="{BB962C8B-B14F-4D97-AF65-F5344CB8AC3E}">
        <p14:creationId xmlns:p14="http://schemas.microsoft.com/office/powerpoint/2010/main" val="1505961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2026-04-22T17:03:45.6080000Z</dcterms:created>
  <dcterms:modified xsi:type="dcterms:W3CDTF">2026-04-22T17:03:45.6080000Z</dcterms:modified>
</coreProperties>
</file>